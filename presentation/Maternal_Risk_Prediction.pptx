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2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99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5D3082">
              <a:alpha val="40000"/>
            </a:srgbClr>
          </a:solidFill>
          <a:ln w="12700">
            <a:solidFill>
              <a:srgbClr val="5D30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2560320" cy="2560320"/>
          </a:xfrm>
          <a:prstGeom prst="ellipse">
            <a:avLst/>
          </a:prstGeom>
          <a:solidFill>
            <a:srgbClr val="7B4F9E">
              <a:alpha val="35000"/>
            </a:srgbClr>
          </a:solidFill>
          <a:ln w="12700">
            <a:solidFill>
              <a:srgbClr val="7B4F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114800"/>
            <a:ext cx="137160" cy="137160"/>
          </a:xfrm>
          <a:prstGeom prst="ellipse">
            <a:avLst/>
          </a:prstGeom>
          <a:solidFill>
            <a:srgbClr val="C26D8A"/>
          </a:solidFill>
          <a:ln w="12700">
            <a:solidFill>
              <a:srgbClr val="C26D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389120"/>
            <a:ext cx="91440" cy="91440"/>
          </a:xfrm>
          <a:prstGeom prst="ellipse">
            <a:avLst/>
          </a:prstGeom>
          <a:solidFill>
            <a:srgbClr val="D4789A"/>
          </a:solidFill>
          <a:ln w="12700">
            <a:solidFill>
              <a:srgbClr val="D478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371600"/>
            <a:ext cx="109728" cy="109728"/>
          </a:xfrm>
          <a:prstGeom prst="ellipse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200" dirty="0">
                <a:solidFill>
                  <a:srgbClr val="C3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YILDIRIM BEYAZIT UNIVERSITY  ·  CENG410 – DATA MINING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MATERNAL RISK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3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Based Classification Analysis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743200" y="3154680"/>
            <a:ext cx="3657600" cy="36576"/>
          </a:xfrm>
          <a:prstGeom prst="rect">
            <a:avLst/>
          </a:prstGeom>
          <a:solidFill>
            <a:srgbClr val="D4789A"/>
          </a:solidFill>
          <a:ln w="12700">
            <a:solidFill>
              <a:srgbClr val="D478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Rümeysa YAVUZKANAT</a:t>
            </a:r>
            <a:r>
              <a:rPr lang="en-US" sz="1300" dirty="0">
                <a:solidFill>
                  <a:srgbClr val="D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21050111081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Emine Sena TOP</a:t>
            </a:r>
            <a:r>
              <a:rPr lang="en-US" sz="1300" dirty="0">
                <a:solidFill>
                  <a:srgbClr val="D8C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21050111082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tr-TR" sz="900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Data Mining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Maternal Health?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4343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complications remain a leading cause of maternal mortality worldwide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identification enables preventive treatment &amp; timely intervention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medical data is error-prone and time-consuming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detect hidden patterns in complex medical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support clinical decision-making in real-time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868680"/>
            <a:ext cx="3749040" cy="3931920"/>
          </a:xfrm>
          <a:prstGeom prst="roundRect">
            <a:avLst>
              <a:gd name="adj" fmla="val 2439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57800" y="960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1389888"/>
            <a:ext cx="347472" cy="347472"/>
          </a:xfrm>
          <a:prstGeom prst="ellipse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50992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50992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distributions,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&amp; patterns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0" y="2057400"/>
            <a:ext cx="347472" cy="347472"/>
          </a:xfrm>
          <a:prstGeom prst="ellipse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50992" y="20208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50992" y="2203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encode features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2724912"/>
            <a:ext cx="347472" cy="347472"/>
          </a:xfrm>
          <a:prstGeom prst="ellipse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50992" y="26883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50992" y="2871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classification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3392424"/>
            <a:ext cx="347472" cy="347472"/>
          </a:xfrm>
          <a:prstGeom prst="ellipse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50992" y="3355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50992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ROC-AUC,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CV scores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0" y="4059936"/>
            <a:ext cx="347472" cy="347472"/>
          </a:xfrm>
          <a:prstGeom prst="ellipse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50992" y="4023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Analysis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50992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medical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Health Risk Dataset – 1205 Observations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869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1,205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4124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8869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4124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8869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84124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8869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20840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Features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46702"/>
              </p:ext>
            </p:extLst>
          </p:nvPr>
        </p:nvGraphicFramePr>
        <p:xfrm>
          <a:off x="274320" y="2304288"/>
          <a:ext cx="8595360" cy="3078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Medical Meaning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pregnant individual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 BP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 blood pressure (mmHg)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 blood pressure (mmHg)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sugar level (mmol/L)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Temp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temperature measurement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Complications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pregnancy complications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Preexisting Diabetes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before pregnancy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Gestational Diabetes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during pregnancy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Health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health condition indicator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 (bpm)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 (1) / Low Risk (0)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Variable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Risk Level Classification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Encoding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53312"/>
          <a:ext cx="3383280" cy="929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Original Label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Encoded 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1A3E"/>
                          </a:solidFill>
                        </a:rPr>
                        <a:t>Low Risk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9B6BB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1A3E"/>
                          </a:solidFill>
                        </a:rPr>
                        <a:t>High Risk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D4789A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29184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552444"/>
            <a:ext cx="3566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task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class: 711 observations (59%)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class: 470 observations (39%)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class imbalance — manageable for ML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80560" y="896112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5709DF3B-07FA-4C6C-9BE2-424D85C2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211" y="1088819"/>
            <a:ext cx="4484449" cy="3264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&amp; Handling Incomplete Medical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0" y="841248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40680" y="932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with Missing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2618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12618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0680" y="1463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1463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16642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16642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86537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18653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20665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/ HR / etc.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20665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each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2432304"/>
            <a:ext cx="3566160" cy="1042416"/>
          </a:xfrm>
          <a:prstGeom prst="roundRect">
            <a:avLst>
              <a:gd name="adj" fmla="val 9091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514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Imputation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788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→ Median imputation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target → Mode imputation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57800" y="3584448"/>
            <a:ext cx="3566160" cy="1212740"/>
          </a:xfrm>
          <a:prstGeom prst="roundRect">
            <a:avLst>
              <a:gd name="adj" fmla="val 8547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611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886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rate is low (~1.5%) — safe to impute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preserved (1205 observations)</a:t>
            </a:r>
            <a:endParaRPr lang="en-US" sz="1300" dirty="0"/>
          </a:p>
        </p:txBody>
      </p:sp>
      <p:pic>
        <p:nvPicPr>
          <p:cNvPr id="27" name="Resim 26">
            <a:extLst>
              <a:ext uri="{FF2B5EF4-FFF2-40B4-BE49-F238E27FC236}">
                <a16:creationId xmlns:a16="http://schemas.microsoft.com/office/drawing/2014/main" id="{B6EA1D2A-CD0F-46B5-84CE-FE409496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04" y="1051560"/>
            <a:ext cx="4841016" cy="32781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Distribution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Distributions of Key Medical Indicators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4206240" cy="2057400"/>
          </a:xfrm>
          <a:prstGeom prst="roundRect">
            <a:avLst>
              <a:gd name="adj" fmla="val 4444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941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Distribution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EDA/3 - Age Distribution.png]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4952" y="1216152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Right-skewed; most patients aged 20–35. Reflects typical maternal age range in the dataset.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36592" y="868680"/>
            <a:ext cx="4206240" cy="2057400"/>
          </a:xfrm>
          <a:prstGeom prst="roundRect">
            <a:avLst>
              <a:gd name="adj" fmla="val 4444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73752" y="941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 Distribution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21615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EDA/5 - BMI Distribution.png]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25512" y="1216152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Near-normal; centred ~20–25. High-BMI outliers indicate obesity-related risk.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3017520"/>
            <a:ext cx="4206240" cy="2057400"/>
          </a:xfrm>
          <a:prstGeom prst="roundRect">
            <a:avLst>
              <a:gd name="adj" fmla="val 4444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" y="3090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Systolic BP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EDA/7 - Systolic Blood Pressure Distribution.png]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44952" y="3364992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Bimodal; peaks at 100 &amp; 120 mmHg. Elevated values signal hypertension risk.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36592" y="3017520"/>
            <a:ext cx="4206240" cy="2057400"/>
          </a:xfrm>
          <a:prstGeom prst="roundRect">
            <a:avLst>
              <a:gd name="adj" fmla="val 4444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73752" y="3090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Diastolic BP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36499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EDA/9 - Diastolic Blood Pressure Distribution.png]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25512" y="3364992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Multimodal; centred 60–90 mmHg. Higher outliers may indicate hypertension.</a:t>
            </a:r>
            <a:endParaRPr lang="en-US" sz="850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57825C1B-D190-46EF-81EB-188457C6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197864"/>
            <a:ext cx="2364777" cy="1600200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AC61DD49-08AD-4A65-8073-A93498A50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575" y="1197865"/>
            <a:ext cx="2364777" cy="1600200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326D0B91-2198-4DE6-ADDC-860059AB7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35" y="3346704"/>
            <a:ext cx="2365200" cy="1600486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EED0A1D6-BD1D-45FB-B24A-2AC1C6059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152" y="3345190"/>
            <a:ext cx="2365200" cy="16004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Boxplot-Based Detection of Extreme Medical Values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detected via IQR method (boxplots) — values beyond Q1 - 1.5×IQR or Q3 + 1.5×IQR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medical datasets, outliers may represent clinically significant high-risk patients → PRESERVED in preprocessing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810512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883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Boxplot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2148840"/>
            <a:ext cx="23774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EDA/4 - Age Boxplot.png]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70632" y="2148840"/>
            <a:ext cx="15727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at 50–65 yrs indicate older maternal patients with elevated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6592" y="1810512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883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BMI Boxplot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2148840"/>
            <a:ext cx="23774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EDA/6 - BMI Boxplot.png]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51192" y="2148840"/>
            <a:ext cx="15727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High-BMI outliers linked to obesity-related maternal complications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3502152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5753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Systolic BP Boxplot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" y="3840480"/>
            <a:ext cx="23774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EDA/8 - Systolic Blood Pressure Boxplot.png]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70632" y="3840480"/>
            <a:ext cx="15727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&gt;170 mmHg suggest severe hypertension risk conditions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36592" y="3502152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5753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Diastolic BP Boxplot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840480"/>
            <a:ext cx="23774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EDA/10 - Diastolic Blood Pressure Boxplot.png]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51192" y="3840480"/>
            <a:ext cx="15727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at 120–140 mmHg may indicate hypertensive disorder</a:t>
            </a:r>
            <a:endParaRPr lang="en-US" sz="900" dirty="0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E7271BF0-20BC-467D-891A-7DE105BFF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35" y="2191395"/>
            <a:ext cx="2484438" cy="939428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21ECBBA3-2CEA-4648-8CB1-E47031AC8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305" y="2201364"/>
            <a:ext cx="2484893" cy="939600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4F1DAA5C-9248-4C79-BF77-F7CB74F7D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35" y="3832452"/>
            <a:ext cx="2484893" cy="939600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5C68C589-DC90-45F2-8D3E-D2FC5FF27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304" y="3859884"/>
            <a:ext cx="2484893" cy="93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 Between Medical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32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Pearson Correlation Formula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384048" y="1261872"/>
                <a:ext cx="3840480" cy="502920"/>
              </a:xfrm>
              <a:prstGeom prst="rect">
                <a:avLst/>
              </a:prstGeom>
              <a:solidFill>
                <a:srgbClr val="F2D4E2"/>
              </a:solidFill>
              <a:ln/>
            </p:spPr>
            <p:txBody>
              <a:bodyPr wrap="square"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sz="11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tr-TR" sz="11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tr-TR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tr-TR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ᵢ−</m:t>
                                  </m:r>
                                  <m:acc>
                                    <m:accPr>
                                      <m:chr m:val="̄"/>
                                      <m:ctrlPr>
                                        <a:rPr lang="tr-TR" sz="11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tr-TR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ᵢ−ȳ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tr-TR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tr-TR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𝛴</m:t>
                                  </m:r>
                                  <m:sSup>
                                    <m:sSupPr>
                                      <m:ctrlPr>
                                        <a:rPr lang="tr-TR" sz="11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tr-TR" sz="11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1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1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ᵢ−</m:t>
                                          </m:r>
                                          <m:acc>
                                            <m:accPr>
                                              <m:chr m:val="̄"/>
                                              <m:ctrlPr>
                                                <a:rPr lang="tr-TR" sz="11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1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1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·</m:t>
                                  </m:r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𝛴</m:t>
                                  </m:r>
                                  <m:sSup>
                                    <m:sSupPr>
                                      <m:ctrlPr>
                                        <a:rPr lang="tr-TR" sz="11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tr-TR" sz="11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1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sz="11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ᵢ−ȳ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1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tr-T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261872"/>
                <a:ext cx="38404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45720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38862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↔ Diastolic BP: r = 0.79 (strong cardiovascular link)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↔ Preexisting Diabetes: r = 0.55 (metabolic relationship)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↔ Age: r = 0.60 (age-related glycemic pattern)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Complications ↔ Mental Health: r = 0.45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↔ Preexisting Diabetes: r = 0.38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 shows weakest correlations (r ≈ -0.1 to 0.1)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886968"/>
            <a:ext cx="406908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IMAGE: EDA/11 - Correlation Heatmap.png]</a:t>
            </a:r>
            <a:endParaRPr lang="en-US" sz="1100" dirty="0"/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86CFB420-D36F-43AB-B9B7-18ACA400B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79" y="804672"/>
            <a:ext cx="434455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Dataset for Machine Learning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57984" y="1435608"/>
            <a:ext cx="274320" cy="45720"/>
          </a:xfrm>
          <a:prstGeom prst="rect">
            <a:avLst/>
          </a:prstGeom>
          <a:solidFill>
            <a:srgbClr val="C3A8D8"/>
          </a:solidFill>
          <a:ln w="12700">
            <a:solidFill>
              <a:srgbClr val="C3A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41248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932688"/>
            <a:ext cx="365760" cy="365760"/>
          </a:xfrm>
          <a:prstGeom prst="ellipse">
            <a:avLst/>
          </a:prstGeom>
          <a:solidFill>
            <a:srgbClr val="9B6BB5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" y="13898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17556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numerical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imputation for categorical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4256" y="1435608"/>
            <a:ext cx="274320" cy="45720"/>
          </a:xfrm>
          <a:prstGeom prst="rect">
            <a:avLst/>
          </a:prstGeom>
          <a:solidFill>
            <a:srgbClr val="C3A8D8"/>
          </a:solidFill>
          <a:ln w="12700">
            <a:solidFill>
              <a:srgbClr val="C3A8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841248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55264" y="932688"/>
            <a:ext cx="365760" cy="365760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15" name="Text 13"/>
          <p:cNvSpPr/>
          <p:nvPr/>
        </p:nvSpPr>
        <p:spPr>
          <a:xfrm>
            <a:off x="3255264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05456" y="13898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Encoding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05456" y="17556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→ 0 | High Risk →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task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10528" y="1435608"/>
            <a:ext cx="274320" cy="45720"/>
          </a:xfrm>
          <a:prstGeom prst="rect">
            <a:avLst/>
          </a:prstGeom>
          <a:solidFill>
            <a:srgbClr val="C3A8D8"/>
          </a:solidFill>
          <a:ln w="12700">
            <a:solidFill>
              <a:srgbClr val="C3A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841248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31536" y="932688"/>
            <a:ext cx="365760" cy="365760"/>
          </a:xfrm>
          <a:prstGeom prst="ellipse">
            <a:avLst/>
          </a:prstGeom>
          <a:solidFill>
            <a:srgbClr val="9B6BB5"/>
          </a:solidFill>
          <a:ln/>
        </p:spPr>
      </p:sp>
      <p:sp>
        <p:nvSpPr>
          <p:cNvPr id="21" name="Text 19"/>
          <p:cNvSpPr/>
          <p:nvPr/>
        </p:nvSpPr>
        <p:spPr>
          <a:xfrm>
            <a:off x="5431536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81728" y="13898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17556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(964 obs)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Testing (241 obs)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| random_state = 42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84848" y="841248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07808" y="932688"/>
            <a:ext cx="365760" cy="365760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13898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17556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KNN, LR, SVM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498848"/>
            <a:ext cx="8595360" cy="530352"/>
          </a:xfrm>
          <a:prstGeom prst="roundRect">
            <a:avLst>
              <a:gd name="adj" fmla="val 17241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53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Scaling Matters: 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48840" y="45537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 large numerical ranges (e.g. Blood Pressure vs. binary indicators) would dominate distance calculations in KNN and SVM without standardization, causing biased predictions. StandardScaler transforms all features to μ ≈ 0, σ ≈ 1.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Supervised Classification Algorithms Compared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621792"/>
          </a:xfrm>
          <a:prstGeom prst="roundRect">
            <a:avLst>
              <a:gd name="adj" fmla="val 14706"/>
            </a:avLst>
          </a:prstGeom>
          <a:solidFill>
            <a:srgbClr val="F2D4E2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869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Sigmoid:  P(y=1) = 1 / (1 + e⁻ᶻ)  where  z = w₁x₁ + w₂x₂ + … + wₙxₙ + 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1572768"/>
            <a:ext cx="1664208" cy="3401568"/>
          </a:xfrm>
          <a:prstGeom prst="roundRect">
            <a:avLst>
              <a:gd name="adj" fmla="val 5495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" y="162763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21762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239572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 maps linear combinations to probabilities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" y="321868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" y="3429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fast, strong baseline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397764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Selected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" y="4187952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binary classification with scaled features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93392" y="1572768"/>
            <a:ext cx="1664208" cy="3401568"/>
          </a:xfrm>
          <a:prstGeom prst="roundRect">
            <a:avLst>
              <a:gd name="adj" fmla="val 5495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39112" y="162763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K-Nearest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66544" y="21762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66544" y="239572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by majority vote of k nearest neighbors using Euclidean distance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66544" y="321868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6544" y="3429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captures local patterns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66544" y="397764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Selected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66544" y="4187952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similar profiles share risk levels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30752" y="1572768"/>
            <a:ext cx="1664208" cy="3401568"/>
          </a:xfrm>
          <a:prstGeom prst="roundRect">
            <a:avLst>
              <a:gd name="adj" fmla="val 5495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76472" y="162763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21762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03904" y="239572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hyperplane maximizing margin between classes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03904" y="321868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03904" y="3429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robustness, strong generalization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03904" y="397764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Selected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03904" y="4187952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complex boundaries in medical 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68112" y="1572768"/>
            <a:ext cx="1664208" cy="3401568"/>
          </a:xfrm>
          <a:prstGeom prst="roundRect">
            <a:avLst>
              <a:gd name="adj" fmla="val 5495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13832" y="162763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41264" y="21762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41264" y="239572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feature-based splits using Gini Impurity to minimize node impurity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41264" y="321868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41264" y="3429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rules, captures nonlinearity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41264" y="397764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Selected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41264" y="4187952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decision paths for clinical use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05472" y="1572768"/>
            <a:ext cx="1664208" cy="3401568"/>
          </a:xfrm>
          <a:prstGeom prst="roundRect">
            <a:avLst>
              <a:gd name="adj" fmla="val 5495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51192" y="162763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78624" y="21762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78624" y="239572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with bootstrap sampling + random feature selection, majority vote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78624" y="321868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78624" y="34290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feature importance, robustness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278624" y="397764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Selected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78624" y="4187952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via ensemble averaging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Performance Assessment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2578608" cy="502920"/>
          </a:xfrm>
          <a:prstGeom prst="roundRect">
            <a:avLst>
              <a:gd name="adj" fmla="val 18182"/>
            </a:avLst>
          </a:prstGeom>
          <a:solidFill>
            <a:srgbClr val="D8C8EC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 + TN) / (TP + TN + FP + FN)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classification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82296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914400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73552" y="1261872"/>
            <a:ext cx="2578608" cy="502920"/>
          </a:xfrm>
          <a:prstGeom prst="roundRect">
            <a:avLst>
              <a:gd name="adj" fmla="val 18182"/>
            </a:avLst>
          </a:prstGeom>
          <a:solidFill>
            <a:srgbClr val="D8C8EC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73552" y="1828800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predicted positives, how many are truly positive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82296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914400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1261872"/>
            <a:ext cx="2578608" cy="502920"/>
          </a:xfrm>
          <a:prstGeom prst="roundRect">
            <a:avLst>
              <a:gd name="adj" fmla="val 18182"/>
            </a:avLst>
          </a:prstGeom>
          <a:solidFill>
            <a:srgbClr val="D8C8EC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81344" y="1828800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actual positives, how many are correctly detected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06324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154680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502152"/>
            <a:ext cx="2578608" cy="502920"/>
          </a:xfrm>
          <a:prstGeom prst="roundRect">
            <a:avLst>
              <a:gd name="adj" fmla="val 18182"/>
            </a:avLst>
          </a:prstGeom>
          <a:solidFill>
            <a:srgbClr val="D8C8EC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538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(Precision × Recall) / (Precision + Recall)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069080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balancing precision &amp; recall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63824" y="306324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73552" y="3154680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ROC-AUC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73552" y="3502152"/>
            <a:ext cx="2578608" cy="502920"/>
          </a:xfrm>
          <a:prstGeom prst="roundRect">
            <a:avLst>
              <a:gd name="adj" fmla="val 18182"/>
            </a:avLst>
          </a:prstGeom>
          <a:solidFill>
            <a:srgbClr val="D8C8EC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538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73552" y="4069080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discrimination: 0.5 = random, &gt; 0.9 = outstanding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3063240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81344" y="3154680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Validation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3502152"/>
            <a:ext cx="2578608" cy="502920"/>
          </a:xfrm>
          <a:prstGeom prst="roundRect">
            <a:avLst>
              <a:gd name="adj" fmla="val 18182"/>
            </a:avLst>
          </a:prstGeom>
          <a:solidFill>
            <a:srgbClr val="D8C8EC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538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CVₘₑₐₙ = (1/k) Σ Scoreᵢ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81344" y="4069080"/>
            <a:ext cx="2578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CV; measures generalization to unseen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" y="4782312"/>
            <a:ext cx="8601774" cy="292608"/>
          </a:xfrm>
          <a:prstGeom prst="roundRect">
            <a:avLst>
              <a:gd name="adj" fmla="val 50000"/>
            </a:avLst>
          </a:prstGeom>
          <a:solidFill>
            <a:srgbClr val="F2D4E2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4632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components: TP = correctly predicted High Risk  |  TN = correctly predicted Low Risk  |  FP = Low Risk predicted as High Risk  |  FN = High Risk predicted as Low Risk (most critical to minimize)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 —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95.44%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0.9531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075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6811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6811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47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1920240"/>
            <a:ext cx="4480560" cy="2990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874520"/>
            <a:ext cx="3749040" cy="1389888"/>
          </a:xfrm>
          <a:prstGeom prst="roundRect">
            <a:avLst>
              <a:gd name="adj" fmla="val 6579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938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240280"/>
          <a:ext cx="3493008" cy="822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140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120640" y="3440430"/>
            <a:ext cx="3749040" cy="1668780"/>
          </a:xfrm>
          <a:prstGeom prst="roundRect">
            <a:avLst>
              <a:gd name="adj" fmla="val 565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7" name="Text 24"/>
          <p:cNvSpPr/>
          <p:nvPr/>
        </p:nvSpPr>
        <p:spPr>
          <a:xfrm>
            <a:off x="5257800" y="3429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performance for binary classification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 &amp; recall across both 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computational cost — suitable for real-time screening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misclassifications out of 241 test cases</a:t>
            </a:r>
            <a:endParaRPr lang="en-US" sz="1300" dirty="0"/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FE2B68DC-62C6-4D81-B406-8ACD01640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23" y="1847224"/>
            <a:ext cx="3427639" cy="31178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K-Nearest Neighbors —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96.68%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075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6811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6811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47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874520"/>
            <a:ext cx="3749040" cy="1389888"/>
          </a:xfrm>
          <a:prstGeom prst="roundRect">
            <a:avLst>
              <a:gd name="adj" fmla="val 6579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938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240280"/>
          <a:ext cx="3493008" cy="822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141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120640" y="3364992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57800" y="3429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neighborhood-based learning performance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— detects most high-risk cases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misclassifications out of 241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was critical for accurate distance calculations</a:t>
            </a:r>
            <a:endParaRPr lang="en-US" sz="1300" dirty="0"/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C11735AE-8949-4519-A12E-E3E911DB4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83" y="1865880"/>
            <a:ext cx="3427382" cy="311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 Machine —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95.85%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075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6811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6811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47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874520"/>
            <a:ext cx="3749040" cy="1389888"/>
          </a:xfrm>
          <a:prstGeom prst="roundRect">
            <a:avLst>
              <a:gd name="adj" fmla="val 6579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938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240280"/>
          <a:ext cx="3493008" cy="822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139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120640" y="3364992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57800" y="3429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decision boundary learning via margin maximization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generalization capability on unseen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high-dimensional feature space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total misclassifications out of 241 test cases</a:t>
            </a:r>
            <a:endParaRPr lang="en-US" sz="1300" dirty="0"/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67E37319-778D-4B62-837F-28AC8C9E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46" y="1865880"/>
            <a:ext cx="3427382" cy="311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 —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96.27%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0.9581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075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6811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6811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47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874520"/>
            <a:ext cx="3749040" cy="1389888"/>
          </a:xfrm>
          <a:prstGeom prst="roundRect">
            <a:avLst>
              <a:gd name="adj" fmla="val 6579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938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240280"/>
          <a:ext cx="3493008" cy="822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89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143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120640" y="3364992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57800" y="3429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(0.98) — minimal missed high-risk cases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rule-based classification 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paths can be directly analyzed clinically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total misclassifications</a:t>
            </a:r>
            <a:endParaRPr lang="en-US" sz="1300" dirty="0"/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2B73C8C7-A7B8-472D-B08E-9C08741C9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57" y="1874520"/>
            <a:ext cx="3427382" cy="311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98.34%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0.9863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075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6811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6811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822960"/>
            <a:ext cx="1664208" cy="914400"/>
          </a:xfrm>
          <a:prstGeom prst="roundRect">
            <a:avLst>
              <a:gd name="adj" fmla="val 10000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86868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472" y="137160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874520"/>
            <a:ext cx="3749040" cy="1389888"/>
          </a:xfrm>
          <a:prstGeom prst="roundRect">
            <a:avLst>
              <a:gd name="adj" fmla="val 6579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938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240280"/>
          <a:ext cx="3493008" cy="8229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Low (0)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1A3E"/>
                          </a:solidFill>
                        </a:rPr>
                        <a:t>Act High (1)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789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4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B6BB5"/>
                          </a:solidFill>
                        </a:rPr>
                        <a:t>142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120640" y="3364992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2D4E2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57800" y="3429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 — Highest accuracy &amp; ROC-AUC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 — perfect Low Risk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averaging significantly reduces overfitting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misclassifications — lowest error rate</a:t>
            </a:r>
            <a:endParaRPr lang="en-US" sz="1300" dirty="0"/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01840173-3C78-4D0B-99D6-273C14B6E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83" y="1865880"/>
            <a:ext cx="3427382" cy="311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Validation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 — Model Stability &amp; Generalization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15468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Fold 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Fold 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Fold 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Fold 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Fold 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E4B5"/>
                          </a:solidFill>
                        </a:rPr>
                        <a:t>CV Mean 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1A3E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0.9793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0.9948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0.9845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0.9896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0.9635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0.9823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1A3E"/>
                          </a:solidFill>
                        </a:rPr>
                        <a:t>Logistic Regression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0.9689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0.9793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0.9689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0.9896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0.9583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0.9730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1A3E"/>
                          </a:solidFill>
                        </a:rPr>
                        <a:t>SVM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0.9741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0.9896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0.9637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0.9845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0.9531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0.9730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1A3E"/>
                          </a:solidFill>
                        </a:rPr>
                        <a:t>KNN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0.9585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0.9845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0.9689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0.9689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0.9583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0.9678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1A3E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0.9482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0.9741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0.9689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0.9482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3E72"/>
                          </a:solidFill>
                        </a:rPr>
                        <a:t>0.9583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0.9595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37744" y="2970435"/>
            <a:ext cx="8631936" cy="1828800"/>
          </a:xfrm>
          <a:prstGeom prst="roundRect">
            <a:avLst>
              <a:gd name="adj" fmla="val 5000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Validation Insights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3547872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highest and most stable CV Mean (0.9823) — strongest generalization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SVM tied at CV Mean = 0.9730 — both show excellent stability across folds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shows slightly higher variance — expected behavior for single-tree learning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exceeded 0.95 mean — confirming the dataset is highly learnable with strong signal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Medical Predictor Contribution Ranking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67547"/>
              </p:ext>
            </p:extLst>
          </p:nvPr>
        </p:nvGraphicFramePr>
        <p:xfrm>
          <a:off x="5349240" y="1127419"/>
          <a:ext cx="3520440" cy="284226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Importance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C1A3E"/>
                          </a:solidFill>
                        </a:rPr>
                        <a:t>Preexisting Diabetes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B6BB5"/>
                          </a:solidFill>
                        </a:rPr>
                        <a:t>0.2189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4789A"/>
                          </a:solidFill>
                        </a:rPr>
                        <a:t>★ #1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C1A3E"/>
                          </a:solidFill>
                        </a:rPr>
                        <a:t>Blood Sugar (BS)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B6BB5"/>
                          </a:solidFill>
                        </a:rPr>
                        <a:t>0.1920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4789A"/>
                          </a:solidFill>
                        </a:rPr>
                        <a:t>★ #2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C1A3E"/>
                          </a:solidFill>
                        </a:rPr>
                        <a:t>BMI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9B6BB5"/>
                          </a:solidFill>
                        </a:rPr>
                        <a:t>0.1813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4789A"/>
                          </a:solidFill>
                        </a:rPr>
                        <a:t>★ #3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Heart 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0.1268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Mental Health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0.0819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Gestational Diabetes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0.0813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Previous Complications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0.0448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Systolic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0.0218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0.0207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Diastolic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0.0205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1A3E"/>
                          </a:solidFill>
                        </a:rPr>
                        <a:t>Body Temp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0.0089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3E72"/>
                          </a:solidFill>
                        </a:rPr>
                        <a:t>#11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9" name="Resim 8">
            <a:extLst>
              <a:ext uri="{FF2B5EF4-FFF2-40B4-BE49-F238E27FC236}">
                <a16:creationId xmlns:a16="http://schemas.microsoft.com/office/drawing/2014/main" id="{0B01F435-CA31-41BC-BCEE-F8B8B1D93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74" y="1150620"/>
            <a:ext cx="5064056" cy="28190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Model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 Across All Algorithms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840203"/>
              </p:ext>
            </p:extLst>
          </p:nvPr>
        </p:nvGraphicFramePr>
        <p:xfrm>
          <a:off x="274320" y="1081699"/>
          <a:ext cx="5029200" cy="1584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Mean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★ 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98.34%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98.63%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98.23%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00"/>
                          </a:solidFill>
                        </a:rPr>
                        <a:t>#1 BEST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B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A3E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96.68%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96.71%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96.78%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#2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A3E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96.27%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95.81%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95.95%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#3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A3E"/>
                          </a:solidFill>
                        </a:rPr>
                        <a:t>SVM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95.85%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96.02%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97.30%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#4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1A3E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95.44%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95.31%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3E72"/>
                          </a:solidFill>
                        </a:rPr>
                        <a:t>97.30%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B6BB5"/>
                          </a:solidFill>
                        </a:rPr>
                        <a:t>#5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82598"/>
            <a:ext cx="8631936" cy="1188720"/>
          </a:xfrm>
          <a:prstGeom prst="roundRect">
            <a:avLst>
              <a:gd name="adj" fmla="val 7692"/>
            </a:avLst>
          </a:prstGeom>
          <a:solidFill>
            <a:srgbClr val="F2D4E2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4276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Best Performing Model: Random Forest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73675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(98.34%), best ROC-AUC (98.63%), strongest CV Mean (98.23%) — zero false positives for Low Risk class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advantage: combining 100+ decision trees dramatically reduces variance and overfitting risk</a:t>
            </a:r>
            <a:endParaRPr lang="en-US" sz="1300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1CE55B07-EBCB-4B5F-9717-1230CDA41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23" y="804672"/>
            <a:ext cx="3486146" cy="19931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64592" cy="164592"/>
          </a:xfrm>
          <a:prstGeom prst="ellipse">
            <a:avLst/>
          </a:prstGeom>
          <a:solidFill>
            <a:srgbClr val="D478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1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&amp; Future Directions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8EF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9144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Achievements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391363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ML pipeline from EDA through Feature Importance implemented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algorithms compared with comprehensive evaluation metrics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98.34% accuracy &amp; 98.63% ROC-AUC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Preexisting Diabetes, BS, BMI, Heart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exceeded 95% accuracy — highly learnable dataset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confirmed stability &amp; generalization capability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822960"/>
            <a:ext cx="2240280" cy="1965960"/>
          </a:xfrm>
          <a:prstGeom prst="roundRect">
            <a:avLst>
              <a:gd name="adj" fmla="val 4651"/>
            </a:avLst>
          </a:prstGeom>
          <a:solidFill>
            <a:srgbClr val="FEF0F5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914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Significance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216152"/>
            <a:ext cx="2011680" cy="1440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detection of high-risk pregnancies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clinical decision-making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maternal &amp; fetal mortality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screening potential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907792"/>
            <a:ext cx="2240280" cy="2075688"/>
          </a:xfrm>
          <a:prstGeom prst="roundRect">
            <a:avLst>
              <a:gd name="adj" fmla="val 4405"/>
            </a:avLst>
          </a:prstGeom>
          <a:solidFill>
            <a:srgbClr val="F0EAF8"/>
          </a:solidFill>
          <a:ln w="12700">
            <a:solidFill>
              <a:srgbClr val="D4B8E8"/>
            </a:solidFill>
            <a:prstDash val="solid"/>
          </a:ln>
          <a:effectLst>
            <a:outerShdw blurRad="101600" dist="38100" dir="8100000" algn="bl" rotWithShape="0">
              <a:srgbClr val="9B6BB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29992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3310128"/>
            <a:ext cx="20116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(ANN/CNN)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diverse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healthcare systems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DB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Web/API deployment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22592" y="822960"/>
            <a:ext cx="1847088" cy="4160520"/>
          </a:xfrm>
          <a:prstGeom prst="roundRect">
            <a:avLst>
              <a:gd name="adj" fmla="val 4950"/>
            </a:avLst>
          </a:prstGeom>
          <a:solidFill>
            <a:srgbClr val="F2D4E2"/>
          </a:solidFill>
          <a:ln w="12700">
            <a:solidFill>
              <a:srgbClr val="D4B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91440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Rankings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1261872"/>
            <a:ext cx="292608" cy="292608"/>
          </a:xfrm>
          <a:prstGeom prst="ellipse">
            <a:avLst/>
          </a:prstGeom>
          <a:solidFill>
            <a:srgbClr val="9B6BB5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52360" y="12618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Random Forest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52360" y="14447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98.34%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86600" y="1975104"/>
            <a:ext cx="292608" cy="292608"/>
          </a:xfrm>
          <a:prstGeom prst="ellipse">
            <a:avLst/>
          </a:prstGeom>
          <a:solidFill>
            <a:srgbClr val="C3A8D8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19751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52360" y="215798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96.68%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86600" y="2688336"/>
            <a:ext cx="292608" cy="292608"/>
          </a:xfrm>
          <a:prstGeom prst="ellipse">
            <a:avLst/>
          </a:prstGeom>
          <a:solidFill>
            <a:srgbClr val="C3A8D8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268833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52360" y="287121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96.27%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86600" y="3401568"/>
            <a:ext cx="292608" cy="292608"/>
          </a:xfrm>
          <a:prstGeom prst="ellipse">
            <a:avLst/>
          </a:prstGeom>
          <a:solidFill>
            <a:srgbClr val="C3A8D8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52360" y="34015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52360" y="358444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4114800"/>
            <a:ext cx="292608" cy="292608"/>
          </a:xfrm>
          <a:prstGeom prst="ellipse">
            <a:avLst/>
          </a:prstGeom>
          <a:solidFill>
            <a:srgbClr val="C3A8D8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52360" y="41148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52360" y="429768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95.44%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D2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5D3082">
              <a:alpha val="40000"/>
            </a:srgbClr>
          </a:solidFill>
          <a:ln w="12700">
            <a:solidFill>
              <a:srgbClr val="5D30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2560320" cy="2560320"/>
          </a:xfrm>
          <a:prstGeom prst="ellipse">
            <a:avLst/>
          </a:prstGeom>
          <a:solidFill>
            <a:srgbClr val="7B4F9E">
              <a:alpha val="35000"/>
            </a:srgbClr>
          </a:solidFill>
          <a:ln w="12700">
            <a:solidFill>
              <a:srgbClr val="7B4F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114800"/>
            <a:ext cx="137160" cy="137160"/>
          </a:xfrm>
          <a:prstGeom prst="ellipse">
            <a:avLst/>
          </a:prstGeom>
          <a:solidFill>
            <a:srgbClr val="C26D8A"/>
          </a:solidFill>
          <a:ln w="12700">
            <a:solidFill>
              <a:srgbClr val="C26D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389120"/>
            <a:ext cx="91440" cy="91440"/>
          </a:xfrm>
          <a:prstGeom prst="ellipse">
            <a:avLst/>
          </a:prstGeom>
          <a:solidFill>
            <a:srgbClr val="D4789A"/>
          </a:solidFill>
          <a:ln w="12700">
            <a:solidFill>
              <a:srgbClr val="D478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371600"/>
            <a:ext cx="109728" cy="109728"/>
          </a:xfrm>
          <a:prstGeom prst="ellipse">
            <a:avLst/>
          </a:prstGeom>
          <a:solidFill>
            <a:srgbClr val="9B6BB5"/>
          </a:solidFill>
          <a:ln w="12700">
            <a:solidFill>
              <a:srgbClr val="9B6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8" name="Shape 6"/>
          <p:cNvSpPr/>
          <p:nvPr/>
        </p:nvSpPr>
        <p:spPr>
          <a:xfrm>
            <a:off x="3200400" y="2578608"/>
            <a:ext cx="2743200" cy="45720"/>
          </a:xfrm>
          <a:prstGeom prst="rect">
            <a:avLst/>
          </a:prstGeom>
          <a:solidFill>
            <a:srgbClr val="E8B4C8"/>
          </a:solidFill>
          <a:ln w="12700">
            <a:solidFill>
              <a:srgbClr val="E8B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72491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3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3337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Rümeysa YAVUZKANAT  ·  21050111081    |    Emine Sena TOP  ·  21050111082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645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Yıldırım Beyazıt University  ·  CENG410 – Data Mining  ·  </a:t>
            </a:r>
            <a:r>
              <a:rPr lang="tr-TR" sz="950" kern="0" spc="100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</a:t>
            </a:r>
            <a:r>
              <a:rPr lang="en-US" sz="950" kern="0" spc="100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tr-TR" sz="950" kern="0" spc="100" dirty="0">
                <a:solidFill>
                  <a:srgbClr val="8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2034</Words>
  <Application>Microsoft Office PowerPoint</Application>
  <PresentationFormat>Ekran Gösterisi (16:9)</PresentationFormat>
  <Paragraphs>549</Paragraphs>
  <Slides>21</Slides>
  <Notes>21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Risk Prediction</dc:title>
  <dc:subject>PptxGenJS Presentation</dc:subject>
  <dc:creator>Rümeysa YAVUZKANAT &amp; Emine Sena TOP</dc:creator>
  <cp:lastModifiedBy>Rümeysa Yavuzkanat</cp:lastModifiedBy>
  <cp:revision>4</cp:revision>
  <dcterms:created xsi:type="dcterms:W3CDTF">2026-05-09T21:23:01Z</dcterms:created>
  <dcterms:modified xsi:type="dcterms:W3CDTF">2026-05-09T21:44:27Z</dcterms:modified>
</cp:coreProperties>
</file>